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2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8FD48-F407-45A5-AA8E-FC0DD7B02C6F}" type="datetimeFigureOut">
              <a:rPr lang="fr-CH" smtClean="0"/>
              <a:t>03.07.2026</a:t>
            </a:fld>
            <a:endParaRPr lang="fr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A6BF7-934F-44B2-934D-31796801FEA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6216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A6BF7-934F-44B2-934D-31796801FEA2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55938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18E3-56CF-652C-3489-43EAAA75B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A1610-85A9-C907-FFAD-40E4A1D63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F4A4D-D7E8-3796-7500-2D9E5CF8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44B8-DB30-4B82-AB4B-336C89F64BEF}" type="datetimeFigureOut">
              <a:rPr lang="fr-CH" smtClean="0"/>
              <a:t>03.07.2026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E6096-A4CF-63DE-6B0B-8FC9AA30A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D1556-F3EC-8BFB-9808-535D19A11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B26D-5D0F-49CF-8B0B-ED92A1AB777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85068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420BB-09F3-3D9F-4FF3-137F7C24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80B45-2335-4896-87BC-E03D2A383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8B3E6-EA39-2973-79D3-8868E292E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44B8-DB30-4B82-AB4B-336C89F64BEF}" type="datetimeFigureOut">
              <a:rPr lang="fr-CH" smtClean="0"/>
              <a:t>03.07.2026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76720-2767-86E5-0E67-30AF11A4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36FE-D372-0F10-077F-82CF12AB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B26D-5D0F-49CF-8B0B-ED92A1AB777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11744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EEE4-76F9-2DD6-8D35-5C9F24589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98616-6775-03E5-2207-ACC8975FC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51FD1-A589-5BBB-88AB-AA5007E8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44B8-DB30-4B82-AB4B-336C89F64BEF}" type="datetimeFigureOut">
              <a:rPr lang="fr-CH" smtClean="0"/>
              <a:t>03.07.2026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6EC8E-6E2F-0568-99D9-F86D2844D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4188E-7445-F929-B5D8-058693E59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B26D-5D0F-49CF-8B0B-ED92A1AB777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94357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AE7C4-5F06-AAAF-0946-220A8FEB1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CC3AA-2B08-82A3-E0D9-5B4DB4788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7E65E-0D7F-9E85-9992-FDE4F6ACB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FA90D-8A1D-C486-F4D1-F004B2291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44B8-DB30-4B82-AB4B-336C89F64BEF}" type="datetimeFigureOut">
              <a:rPr lang="fr-CH" smtClean="0"/>
              <a:t>03.07.2026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A3EF6-2253-2656-0E22-69A5F273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652C3-9A9F-AF6C-3515-8107FBBA4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B26D-5D0F-49CF-8B0B-ED92A1AB777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4961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BDEE1-1592-15D0-CA81-22C3F07D9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BCA83-D48C-D73A-1CB9-498272360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62260-4FB7-A78D-AFFF-BF7E1F1DD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831707-A785-380C-D455-B4A9BD749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7FB9C5-A1A3-A173-289F-B9786491A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4F8BEA-3EAB-E14B-FC07-4D58B07E6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44B8-DB30-4B82-AB4B-336C89F64BEF}" type="datetimeFigureOut">
              <a:rPr lang="fr-CH" smtClean="0"/>
              <a:t>03.07.2026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3F67A2-77E4-B890-819C-B9B6A132F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448710-23C8-4FC6-636F-8D8C61738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B26D-5D0F-49CF-8B0B-ED92A1AB777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31004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B9AC-EE07-D204-850A-AE4B178A6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E43FAE-7A38-4BCA-215B-1BA8B7A5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44B8-DB30-4B82-AB4B-336C89F64BEF}" type="datetimeFigureOut">
              <a:rPr lang="fr-CH" smtClean="0"/>
              <a:t>03.07.2026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6C3A9-FC92-FD7A-60E4-9631F27B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570F4-59EB-9707-DDD1-AB353863D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B26D-5D0F-49CF-8B0B-ED92A1AB777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2375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6841A4-C35B-0A25-4C30-8C41EDF5B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44B8-DB30-4B82-AB4B-336C89F64BEF}" type="datetimeFigureOut">
              <a:rPr lang="fr-CH" smtClean="0"/>
              <a:t>03.07.2026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42F48-4D27-F61F-9556-2C596FBB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47D33-3478-0621-251D-0292CDD14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B26D-5D0F-49CF-8B0B-ED92A1AB777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3127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2C2F-40F6-D855-C658-CB05CDE4D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C7BFF-F0D6-6759-A696-199C586FA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31442-4B26-1607-AEAC-C52953C82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7C972-728E-3C6C-3F62-983E3F0A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44B8-DB30-4B82-AB4B-336C89F64BEF}" type="datetimeFigureOut">
              <a:rPr lang="fr-CH" smtClean="0"/>
              <a:t>03.07.2026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33129-9213-2D2B-882D-FC029D21A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F9407-C165-D82C-BB0C-506F9687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B26D-5D0F-49CF-8B0B-ED92A1AB777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53078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5BC3-A283-4DBB-A3DB-D4F3DE183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8A10FC-C14E-CE1F-C598-DBC74E1F6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36F42-9456-28A6-AC04-864F3BF2D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F492F-2040-F64F-D797-3B125CAE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44B8-DB30-4B82-AB4B-336C89F64BEF}" type="datetimeFigureOut">
              <a:rPr lang="fr-CH" smtClean="0"/>
              <a:t>03.07.2026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062D7-A5C3-8C5D-E45A-1F09A264A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939A3-097D-70FF-9CBD-60884190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B26D-5D0F-49CF-8B0B-ED92A1AB777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3484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E19F2-CA04-C367-9ED0-3A23C0611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2D95D-8C50-D074-83B0-1AD9877C6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8BEE4-6685-8F8F-538F-04B216D0C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44B8-DB30-4B82-AB4B-336C89F64BEF}" type="datetimeFigureOut">
              <a:rPr lang="fr-CH" smtClean="0"/>
              <a:t>03.07.2026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95F7F-7AB4-E0C5-F105-055DECB1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FB9A-1ABB-4DDD-1E63-1617C3BF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B26D-5D0F-49CF-8B0B-ED92A1AB777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11741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F0782A-6E72-C916-ED22-86D6C224DA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77CA8-DB61-1733-0B01-0AD2BFE7D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023A0-317D-1323-6590-0B5183C17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44B8-DB30-4B82-AB4B-336C89F64BEF}" type="datetimeFigureOut">
              <a:rPr lang="fr-CH" smtClean="0"/>
              <a:t>03.07.2026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D0346-C21B-35C5-1F36-7386D2479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BF41C-654B-82F0-A8C1-7D187A610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7B26D-5D0F-49CF-8B0B-ED92A1AB777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1903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6BCC23-0D2D-0833-1834-BCD726209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124A6-BBD3-4BFF-85ED-086900660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BD6B4-E7BA-7AB8-23FF-AFF015D7F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D44B8-DB30-4B82-AB4B-336C89F64BEF}" type="datetimeFigureOut">
              <a:rPr lang="fr-CH" smtClean="0"/>
              <a:t>03.07.2026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B6F62-0D98-86D1-FD11-F9A58AB79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72E1B-3BC2-A935-4C4B-D7BA9E9C7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7B26D-5D0F-49CF-8B0B-ED92A1AB7772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623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wissvotes avatar">
            <a:extLst>
              <a:ext uri="{FF2B5EF4-FFF2-40B4-BE49-F238E27FC236}">
                <a16:creationId xmlns:a16="http://schemas.microsoft.com/office/drawing/2014/main" id="{8E74663E-4769-86D4-1240-BA787ECBF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62" y="1025176"/>
            <a:ext cx="765290" cy="76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 de Wikipédia — Wikipédia">
            <a:extLst>
              <a:ext uri="{FF2B5EF4-FFF2-40B4-BE49-F238E27FC236}">
                <a16:creationId xmlns:a16="http://schemas.microsoft.com/office/drawing/2014/main" id="{2D61CDBF-DCC3-D706-E659-CEDFC8B9D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937" y="4854508"/>
            <a:ext cx="505011" cy="46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iplomatische Dokumente der Schweiz (Dodis) - kommunismusgeschichte.de">
            <a:extLst>
              <a:ext uri="{FF2B5EF4-FFF2-40B4-BE49-F238E27FC236}">
                <a16:creationId xmlns:a16="http://schemas.microsoft.com/office/drawing/2014/main" id="{E8601149-5085-6C38-A773-F3DF6EC2B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36" y="3352310"/>
            <a:ext cx="808593" cy="587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ase de données des élites suisses | Accueil">
            <a:extLst>
              <a:ext uri="{FF2B5EF4-FFF2-40B4-BE49-F238E27FC236}">
                <a16:creationId xmlns:a16="http://schemas.microsoft.com/office/drawing/2014/main" id="{D02E2B87-F244-6A3E-5D0F-7978FEC6A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37" y="2865394"/>
            <a:ext cx="1051328" cy="312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a Bibliothèque nationale développe l'accès en ligne aux archives de la  presse suisse">
            <a:extLst>
              <a:ext uri="{FF2B5EF4-FFF2-40B4-BE49-F238E27FC236}">
                <a16:creationId xmlns:a16="http://schemas.microsoft.com/office/drawing/2014/main" id="{14870921-3A00-4E03-B840-183DFAA96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999" y="2305824"/>
            <a:ext cx="1032045" cy="243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Vecteurs sur Web - Téléchargez des vecteurs gratuits de haute qualité | Magnific (anciennement Freepik)">
            <a:extLst>
              <a:ext uri="{FF2B5EF4-FFF2-40B4-BE49-F238E27FC236}">
                <a16:creationId xmlns:a16="http://schemas.microsoft.com/office/drawing/2014/main" id="{2E4CE316-6703-5227-FB64-089F7BE40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793" y="5446497"/>
            <a:ext cx="1309655" cy="867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7AE5B4-091F-FE55-95C1-DED085650EE4}"/>
              </a:ext>
            </a:extLst>
          </p:cNvPr>
          <p:cNvSpPr txBox="1"/>
          <p:nvPr/>
        </p:nvSpPr>
        <p:spPr>
          <a:xfrm>
            <a:off x="1456746" y="5411456"/>
            <a:ext cx="2946640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Document web générique</a:t>
            </a:r>
          </a:p>
          <a:p>
            <a:r>
              <a:rPr lang="fr-CH" sz="1050" dirty="0"/>
              <a:t>Télécharger n’importe quel document par son URL</a:t>
            </a:r>
            <a:endParaRPr lang="fr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07AE9-5A90-5CE7-73E5-AB47284A9BAA}"/>
              </a:ext>
            </a:extLst>
          </p:cNvPr>
          <p:cNvSpPr txBox="1"/>
          <p:nvPr/>
        </p:nvSpPr>
        <p:spPr>
          <a:xfrm>
            <a:off x="1456746" y="4054376"/>
            <a:ext cx="3560783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Dictionnaire Historique de la Suisse</a:t>
            </a:r>
          </a:p>
          <a:p>
            <a:r>
              <a:rPr lang="fr-CH" sz="1050" dirty="0"/>
              <a:t>Personnes, notions et faits ayant marqué l’histoire suisse</a:t>
            </a:r>
            <a:endParaRPr lang="fr-C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7D500F-2833-ACBD-D7B4-8AEE49899E7D}"/>
              </a:ext>
            </a:extLst>
          </p:cNvPr>
          <p:cNvSpPr txBox="1"/>
          <p:nvPr/>
        </p:nvSpPr>
        <p:spPr>
          <a:xfrm>
            <a:off x="1456746" y="3373700"/>
            <a:ext cx="2367956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 err="1"/>
              <a:t>Dodis</a:t>
            </a:r>
            <a:endParaRPr lang="fr-CH" dirty="0"/>
          </a:p>
          <a:p>
            <a:r>
              <a:rPr lang="fr-CH" sz="1050" dirty="0"/>
              <a:t>Documents issus de la diplomatie suisse</a:t>
            </a:r>
            <a:endParaRPr lang="fr-CH" dirty="0"/>
          </a:p>
        </p:txBody>
      </p:sp>
      <p:pic>
        <p:nvPicPr>
          <p:cNvPr id="1042" name="Picture 18" descr="L'ASSH compte neuf instituts, dont la mission est d'élaborer des bases">
            <a:extLst>
              <a:ext uri="{FF2B5EF4-FFF2-40B4-BE49-F238E27FC236}">
                <a16:creationId xmlns:a16="http://schemas.microsoft.com/office/drawing/2014/main" id="{79E82006-95AC-82AB-B11F-509464DE8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61" y="3981900"/>
            <a:ext cx="1163156" cy="653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231AAD-E151-04D0-4248-FCDB1DB2DA6E}"/>
              </a:ext>
            </a:extLst>
          </p:cNvPr>
          <p:cNvSpPr txBox="1"/>
          <p:nvPr/>
        </p:nvSpPr>
        <p:spPr>
          <a:xfrm>
            <a:off x="1459952" y="2777462"/>
            <a:ext cx="2364750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Elites Suisses</a:t>
            </a:r>
          </a:p>
          <a:p>
            <a:r>
              <a:rPr lang="fr-CH" sz="1050" dirty="0"/>
              <a:t>Annuaire des personnes de l’élite suisse</a:t>
            </a:r>
            <a:endParaRPr lang="fr-C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394F66-0E0A-05A6-0AD8-3D03D5DF4337}"/>
              </a:ext>
            </a:extLst>
          </p:cNvPr>
          <p:cNvSpPr txBox="1"/>
          <p:nvPr/>
        </p:nvSpPr>
        <p:spPr>
          <a:xfrm>
            <a:off x="1484670" y="2181224"/>
            <a:ext cx="2454518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E-newspaperarchives.ch</a:t>
            </a:r>
          </a:p>
          <a:p>
            <a:r>
              <a:rPr lang="fr-CH" sz="1050" dirty="0"/>
              <a:t>Près de 90 titres de journaux depuis 1848</a:t>
            </a:r>
            <a:endParaRPr lang="fr-C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A348ED-813F-A7DB-CB09-3B14EEABB0C5}"/>
              </a:ext>
            </a:extLst>
          </p:cNvPr>
          <p:cNvSpPr txBox="1"/>
          <p:nvPr/>
        </p:nvSpPr>
        <p:spPr>
          <a:xfrm>
            <a:off x="1484670" y="1117373"/>
            <a:ext cx="3020379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 err="1"/>
              <a:t>SwissVotes</a:t>
            </a:r>
            <a:endParaRPr lang="fr-CH" dirty="0"/>
          </a:p>
          <a:p>
            <a:r>
              <a:rPr lang="fr-CH" sz="1050" dirty="0"/>
              <a:t>Tous les résultats de votation en Suisse depuis 1848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6E0EE-6FE7-1E23-E0A1-0B743D089C7E}"/>
              </a:ext>
            </a:extLst>
          </p:cNvPr>
          <p:cNvSpPr txBox="1"/>
          <p:nvPr/>
        </p:nvSpPr>
        <p:spPr>
          <a:xfrm>
            <a:off x="1456746" y="4738546"/>
            <a:ext cx="2081019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Wikipédia</a:t>
            </a:r>
          </a:p>
          <a:p>
            <a:r>
              <a:rPr lang="fr-CH" sz="1050" dirty="0"/>
              <a:t>Source encyclopédique secondaire</a:t>
            </a:r>
            <a:endParaRPr lang="fr-CH" dirty="0"/>
          </a:p>
        </p:txBody>
      </p:sp>
      <p:pic>
        <p:nvPicPr>
          <p:cNvPr id="1044" name="Picture 20" descr="Office fédéral de la statistique OFS (@statsuisse) / Posts / X">
            <a:extLst>
              <a:ext uri="{FF2B5EF4-FFF2-40B4-BE49-F238E27FC236}">
                <a16:creationId xmlns:a16="http://schemas.microsoft.com/office/drawing/2014/main" id="{3A8517E7-B29F-5DFB-D457-01BDCF8D8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304" y="1648175"/>
            <a:ext cx="280001" cy="28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5B0B39-CD7F-85BC-9EFC-FA08DEC9ED3B}"/>
              </a:ext>
            </a:extLst>
          </p:cNvPr>
          <p:cNvSpPr txBox="1"/>
          <p:nvPr/>
        </p:nvSpPr>
        <p:spPr>
          <a:xfrm>
            <a:off x="1484670" y="1585037"/>
            <a:ext cx="3063083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Données OFS sur la population</a:t>
            </a:r>
          </a:p>
          <a:p>
            <a:r>
              <a:rPr lang="fr-CH" sz="1050" dirty="0"/>
              <a:t>Evolution de la population suisse depuis 1848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6C011F-AAF8-BC43-9F21-264324A2C50A}"/>
              </a:ext>
            </a:extLst>
          </p:cNvPr>
          <p:cNvSpPr txBox="1"/>
          <p:nvPr/>
        </p:nvSpPr>
        <p:spPr>
          <a:xfrm>
            <a:off x="600702" y="544382"/>
            <a:ext cx="1172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400" b="1" dirty="0"/>
              <a:t>Sources</a:t>
            </a:r>
          </a:p>
        </p:txBody>
      </p:sp>
      <p:sp>
        <p:nvSpPr>
          <p:cNvPr id="18" name="Flowchart: Multidocument 17">
            <a:extLst>
              <a:ext uri="{FF2B5EF4-FFF2-40B4-BE49-F238E27FC236}">
                <a16:creationId xmlns:a16="http://schemas.microsoft.com/office/drawing/2014/main" id="{149FAC26-B7C0-08E6-B57C-00C8E72F6619}"/>
              </a:ext>
            </a:extLst>
          </p:cNvPr>
          <p:cNvSpPr/>
          <p:nvPr/>
        </p:nvSpPr>
        <p:spPr>
          <a:xfrm>
            <a:off x="7835370" y="3006306"/>
            <a:ext cx="942975" cy="1047750"/>
          </a:xfrm>
          <a:prstGeom prst="flowChartMulti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3855E6-69B0-7FFA-9C9B-F0D064CB0B87}"/>
              </a:ext>
            </a:extLst>
          </p:cNvPr>
          <p:cNvSpPr txBox="1"/>
          <p:nvPr/>
        </p:nvSpPr>
        <p:spPr>
          <a:xfrm>
            <a:off x="7467409" y="4086146"/>
            <a:ext cx="163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400" b="1" dirty="0"/>
              <a:t>Documents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44EF01-0617-1228-554F-DC5CFAEEC3B5}"/>
              </a:ext>
            </a:extLst>
          </p:cNvPr>
          <p:cNvSpPr txBox="1"/>
          <p:nvPr/>
        </p:nvSpPr>
        <p:spPr>
          <a:xfrm>
            <a:off x="5251347" y="2410332"/>
            <a:ext cx="1656574" cy="12359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 err="1"/>
              <a:t>Fetch</a:t>
            </a:r>
            <a:r>
              <a:rPr lang="fr-CH" sz="2400" b="1" dirty="0"/>
              <a:t> </a:t>
            </a:r>
            <a:r>
              <a:rPr lang="fr-CH" sz="2400" b="1" dirty="0" err="1"/>
              <a:t>skills</a:t>
            </a:r>
            <a:endParaRPr lang="fr-CH" sz="2400" b="1" dirty="0"/>
          </a:p>
          <a:p>
            <a:pPr algn="ctr"/>
            <a:r>
              <a:rPr lang="fr-CH" sz="1600" dirty="0"/>
              <a:t>Recherche et télécharge les documents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D528F7-4547-2DDA-5FB1-6CC4A455D708}"/>
              </a:ext>
            </a:extLst>
          </p:cNvPr>
          <p:cNvSpPr txBox="1"/>
          <p:nvPr/>
        </p:nvSpPr>
        <p:spPr>
          <a:xfrm>
            <a:off x="5267713" y="3764088"/>
            <a:ext cx="2168285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 err="1"/>
              <a:t>Transform</a:t>
            </a:r>
            <a:r>
              <a:rPr lang="fr-CH" sz="2400" b="1" dirty="0"/>
              <a:t> </a:t>
            </a:r>
            <a:r>
              <a:rPr lang="fr-CH" sz="2400" b="1" dirty="0" err="1"/>
              <a:t>skills</a:t>
            </a:r>
            <a:br>
              <a:rPr lang="fr-CH" sz="2400" b="1" dirty="0"/>
            </a:br>
            <a:r>
              <a:rPr lang="fr-CH" sz="1600" dirty="0"/>
              <a:t>(OCR, traduction, …)</a:t>
            </a:r>
            <a:endParaRPr lang="fr-CH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1B0B62-A513-5ED8-B91E-EC3333B763CA}"/>
              </a:ext>
            </a:extLst>
          </p:cNvPr>
          <p:cNvSpPr txBox="1"/>
          <p:nvPr/>
        </p:nvSpPr>
        <p:spPr>
          <a:xfrm>
            <a:off x="9167014" y="2275539"/>
            <a:ext cx="1465390" cy="11387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 err="1"/>
              <a:t>Query</a:t>
            </a:r>
            <a:r>
              <a:rPr lang="fr-CH" sz="2400" b="1" dirty="0"/>
              <a:t> </a:t>
            </a:r>
            <a:r>
              <a:rPr lang="fr-CH" sz="2400" b="1" dirty="0" err="1"/>
              <a:t>skills</a:t>
            </a:r>
            <a:br>
              <a:rPr lang="fr-CH" sz="2400" b="1" dirty="0"/>
            </a:br>
            <a:r>
              <a:rPr lang="fr-CH" sz="2000" b="1" dirty="0"/>
              <a:t> </a:t>
            </a:r>
            <a:r>
              <a:rPr lang="fr-CH" sz="1600" dirty="0"/>
              <a:t>(RAG)</a:t>
            </a:r>
            <a:endParaRPr lang="fr-CH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AD83CE-05D8-3926-C567-CA569C76DB74}"/>
              </a:ext>
            </a:extLst>
          </p:cNvPr>
          <p:cNvSpPr txBox="1"/>
          <p:nvPr/>
        </p:nvSpPr>
        <p:spPr>
          <a:xfrm>
            <a:off x="9183380" y="3667042"/>
            <a:ext cx="1465390" cy="8309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/>
              <a:t>Agents d’analyse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C298B2CC-044D-120A-A8AA-2AB4FFE6E2C6}"/>
              </a:ext>
            </a:extLst>
          </p:cNvPr>
          <p:cNvSpPr/>
          <p:nvPr/>
        </p:nvSpPr>
        <p:spPr>
          <a:xfrm flipH="1">
            <a:off x="4836061" y="1411960"/>
            <a:ext cx="338487" cy="4704257"/>
          </a:xfrm>
          <a:prstGeom prst="leftBrace">
            <a:avLst>
              <a:gd name="adj1" fmla="val 32252"/>
              <a:gd name="adj2" fmla="val 35118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2D71922-EE2B-AA92-3A66-9F669FEE3D42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6907921" y="3028303"/>
            <a:ext cx="927449" cy="5018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84856ED-1094-99F2-C9D4-8FD3DE360E3A}"/>
              </a:ext>
            </a:extLst>
          </p:cNvPr>
          <p:cNvCxnSpPr>
            <a:cxnSpLocks/>
            <a:stCxn id="18" idx="1"/>
            <a:endCxn id="22" idx="3"/>
          </p:cNvCxnSpPr>
          <p:nvPr/>
        </p:nvCxnSpPr>
        <p:spPr>
          <a:xfrm flipH="1">
            <a:off x="7435998" y="3530181"/>
            <a:ext cx="399372" cy="58785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21FBEF3-8B20-50A0-3726-A7028947E9DD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 flipV="1">
            <a:off x="8778345" y="2844926"/>
            <a:ext cx="388669" cy="6852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7F31E87-B9BB-BB76-9DB3-50B90F03E4F7}"/>
              </a:ext>
            </a:extLst>
          </p:cNvPr>
          <p:cNvCxnSpPr>
            <a:cxnSpLocks/>
            <a:stCxn id="18" idx="3"/>
            <a:endCxn id="27" idx="1"/>
          </p:cNvCxnSpPr>
          <p:nvPr/>
        </p:nvCxnSpPr>
        <p:spPr>
          <a:xfrm>
            <a:off x="8778345" y="3530181"/>
            <a:ext cx="405035" cy="5523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lowchart: Multidocument 56">
            <a:extLst>
              <a:ext uri="{FF2B5EF4-FFF2-40B4-BE49-F238E27FC236}">
                <a16:creationId xmlns:a16="http://schemas.microsoft.com/office/drawing/2014/main" id="{3E5DB84A-A255-F35E-BE04-016F2B5EB6A4}"/>
              </a:ext>
            </a:extLst>
          </p:cNvPr>
          <p:cNvSpPr/>
          <p:nvPr/>
        </p:nvSpPr>
        <p:spPr>
          <a:xfrm>
            <a:off x="11102199" y="3006306"/>
            <a:ext cx="942975" cy="1047750"/>
          </a:xfrm>
          <a:prstGeom prst="flowChartMultidocumen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4A5FFD-17E5-29B8-52D7-FC54162A5518}"/>
              </a:ext>
            </a:extLst>
          </p:cNvPr>
          <p:cNvSpPr txBox="1"/>
          <p:nvPr/>
        </p:nvSpPr>
        <p:spPr>
          <a:xfrm>
            <a:off x="10859288" y="4052086"/>
            <a:ext cx="1309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400" b="1" dirty="0"/>
              <a:t>Analyses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7F7CF4C-4C12-032E-674A-A7033136BB50}"/>
              </a:ext>
            </a:extLst>
          </p:cNvPr>
          <p:cNvCxnSpPr>
            <a:cxnSpLocks/>
            <a:stCxn id="27" idx="3"/>
            <a:endCxn id="57" idx="1"/>
          </p:cNvCxnSpPr>
          <p:nvPr/>
        </p:nvCxnSpPr>
        <p:spPr>
          <a:xfrm flipV="1">
            <a:off x="10648770" y="3530181"/>
            <a:ext cx="453429" cy="5523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3469F7C-C5B4-3A7D-51B7-B3B51C7E3F43}"/>
              </a:ext>
            </a:extLst>
          </p:cNvPr>
          <p:cNvCxnSpPr>
            <a:cxnSpLocks/>
            <a:stCxn id="24" idx="3"/>
            <a:endCxn id="57" idx="1"/>
          </p:cNvCxnSpPr>
          <p:nvPr/>
        </p:nvCxnSpPr>
        <p:spPr>
          <a:xfrm>
            <a:off x="10632404" y="2844926"/>
            <a:ext cx="469795" cy="6852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7404A88-E5B2-071F-E2BE-4B429F08E877}"/>
              </a:ext>
            </a:extLst>
          </p:cNvPr>
          <p:cNvSpPr txBox="1"/>
          <p:nvPr/>
        </p:nvSpPr>
        <p:spPr>
          <a:xfrm>
            <a:off x="5282325" y="4606664"/>
            <a:ext cx="6744915" cy="646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CH" sz="2000" b="1" dirty="0"/>
              <a:t>Plateforme agentique (GitHub </a:t>
            </a:r>
            <a:r>
              <a:rPr lang="fr-CH" sz="2000" b="1" dirty="0" err="1"/>
              <a:t>Copilot</a:t>
            </a:r>
            <a:r>
              <a:rPr lang="fr-CH" sz="2000" b="1" dirty="0"/>
              <a:t>, Claude Code, …)</a:t>
            </a:r>
          </a:p>
          <a:p>
            <a:pPr algn="ctr"/>
            <a:r>
              <a:rPr lang="fr-CH" sz="1600" dirty="0"/>
              <a:t>Dialogue avec l’historien pour l’aider dans ses recherches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DDA71A-5FD6-7F2C-EAAC-35EC4D47F1FD}"/>
              </a:ext>
            </a:extLst>
          </p:cNvPr>
          <p:cNvSpPr txBox="1"/>
          <p:nvPr/>
        </p:nvSpPr>
        <p:spPr>
          <a:xfrm>
            <a:off x="7337681" y="888740"/>
            <a:ext cx="1938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800" b="1" dirty="0"/>
              <a:t>Corpus-</a:t>
            </a:r>
            <a:r>
              <a:rPr lang="fr-CH" sz="2800" b="1" dirty="0" err="1"/>
              <a:t>lens</a:t>
            </a:r>
            <a:endParaRPr lang="fr-CH" sz="2800" b="1" dirty="0"/>
          </a:p>
        </p:txBody>
      </p:sp>
    </p:spTree>
    <p:extLst>
      <p:ext uri="{BB962C8B-B14F-4D97-AF65-F5344CB8AC3E}">
        <p14:creationId xmlns:p14="http://schemas.microsoft.com/office/powerpoint/2010/main" val="688026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</TotalTime>
  <Words>124</Words>
  <Application>Microsoft Office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Kronegg</dc:creator>
  <cp:lastModifiedBy>Julien Kronegg</cp:lastModifiedBy>
  <cp:revision>4</cp:revision>
  <dcterms:created xsi:type="dcterms:W3CDTF">2026-07-02T22:39:30Z</dcterms:created>
  <dcterms:modified xsi:type="dcterms:W3CDTF">2026-07-04T12:20:37Z</dcterms:modified>
</cp:coreProperties>
</file>